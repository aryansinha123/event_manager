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raboto Bold" charset="1" panose="02000500000000000000"/>
      <p:regular r:id="rId20"/>
    </p:embeddedFont>
    <p:embeddedFont>
      <p:font typeface="Araboto" charset="1" panose="02000500000000000000"/>
      <p:regular r:id="rId21"/>
    </p:embeddedFont>
    <p:embeddedFont>
      <p:font typeface="Duru Sans" charset="1" panose="020B050304050006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9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2418" y="504825"/>
            <a:ext cx="17103164" cy="9277350"/>
            <a:chOff x="0" y="0"/>
            <a:chExt cx="4504537" cy="24434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04537" cy="2443417"/>
            </a:xfrm>
            <a:custGeom>
              <a:avLst/>
              <a:gdLst/>
              <a:ahLst/>
              <a:cxnLst/>
              <a:rect r="r" b="b" t="t" l="l"/>
              <a:pathLst>
                <a:path h="2443417" w="4504537">
                  <a:moveTo>
                    <a:pt x="16748" y="0"/>
                  </a:moveTo>
                  <a:lnTo>
                    <a:pt x="4487788" y="0"/>
                  </a:lnTo>
                  <a:cubicBezTo>
                    <a:pt x="4497039" y="0"/>
                    <a:pt x="4504537" y="7499"/>
                    <a:pt x="4504537" y="16748"/>
                  </a:cubicBezTo>
                  <a:lnTo>
                    <a:pt x="4504537" y="2426669"/>
                  </a:lnTo>
                  <a:cubicBezTo>
                    <a:pt x="4504537" y="2431111"/>
                    <a:pt x="4502772" y="2435371"/>
                    <a:pt x="4499632" y="2438512"/>
                  </a:cubicBezTo>
                  <a:cubicBezTo>
                    <a:pt x="4496491" y="2441653"/>
                    <a:pt x="4492230" y="2443417"/>
                    <a:pt x="4487788" y="2443417"/>
                  </a:cubicBezTo>
                  <a:lnTo>
                    <a:pt x="16748" y="2443417"/>
                  </a:lnTo>
                  <a:cubicBezTo>
                    <a:pt x="7499" y="2443417"/>
                    <a:pt x="0" y="2435919"/>
                    <a:pt x="0" y="2426669"/>
                  </a:cubicBezTo>
                  <a:lnTo>
                    <a:pt x="0" y="16748"/>
                  </a:lnTo>
                  <a:cubicBezTo>
                    <a:pt x="0" y="12306"/>
                    <a:pt x="1765" y="8046"/>
                    <a:pt x="4906" y="4906"/>
                  </a:cubicBezTo>
                  <a:cubicBezTo>
                    <a:pt x="8046" y="1765"/>
                    <a:pt x="12306" y="0"/>
                    <a:pt x="16748" y="0"/>
                  </a:cubicBezTo>
                  <a:close/>
                </a:path>
              </a:pathLst>
            </a:custGeom>
            <a:solidFill>
              <a:srgbClr val="F1FB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04537" cy="2481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5373555" y="1543050"/>
            <a:ext cx="6402255" cy="7200900"/>
          </a:xfrm>
          <a:custGeom>
            <a:avLst/>
            <a:gdLst/>
            <a:ahLst/>
            <a:cxnLst/>
            <a:rect r="r" b="b" t="t" l="l"/>
            <a:pathLst>
              <a:path h="7200900" w="6402255">
                <a:moveTo>
                  <a:pt x="0" y="0"/>
                </a:moveTo>
                <a:lnTo>
                  <a:pt x="6402255" y="0"/>
                </a:lnTo>
                <a:lnTo>
                  <a:pt x="6402255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1543050"/>
            <a:ext cx="6402255" cy="7200900"/>
          </a:xfrm>
          <a:custGeom>
            <a:avLst/>
            <a:gdLst/>
            <a:ahLst/>
            <a:cxnLst/>
            <a:rect r="r" b="b" t="t" l="l"/>
            <a:pathLst>
              <a:path h="7200900" w="6402255">
                <a:moveTo>
                  <a:pt x="0" y="0"/>
                </a:moveTo>
                <a:lnTo>
                  <a:pt x="6402255" y="0"/>
                </a:lnTo>
                <a:lnTo>
                  <a:pt x="6402255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6704626" y="9258300"/>
            <a:ext cx="4878748" cy="2449250"/>
          </a:xfrm>
          <a:custGeom>
            <a:avLst/>
            <a:gdLst/>
            <a:ahLst/>
            <a:cxnLst/>
            <a:rect r="r" b="b" t="t" l="l"/>
            <a:pathLst>
              <a:path h="2449250" w="4878748">
                <a:moveTo>
                  <a:pt x="0" y="2449250"/>
                </a:moveTo>
                <a:lnTo>
                  <a:pt x="4878748" y="2449250"/>
                </a:lnTo>
                <a:lnTo>
                  <a:pt x="4878748" y="0"/>
                </a:lnTo>
                <a:lnTo>
                  <a:pt x="0" y="0"/>
                </a:lnTo>
                <a:lnTo>
                  <a:pt x="0" y="24492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04626" y="-1420550"/>
            <a:ext cx="4878748" cy="2449250"/>
          </a:xfrm>
          <a:custGeom>
            <a:avLst/>
            <a:gdLst/>
            <a:ahLst/>
            <a:cxnLst/>
            <a:rect r="r" b="b" t="t" l="l"/>
            <a:pathLst>
              <a:path h="2449250" w="4878748">
                <a:moveTo>
                  <a:pt x="0" y="0"/>
                </a:moveTo>
                <a:lnTo>
                  <a:pt x="4878748" y="0"/>
                </a:lnTo>
                <a:lnTo>
                  <a:pt x="4878748" y="2449250"/>
                </a:lnTo>
                <a:lnTo>
                  <a:pt x="0" y="2449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299748" y="894455"/>
            <a:ext cx="13688505" cy="7774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10"/>
              </a:lnSpc>
            </a:pPr>
            <a:r>
              <a:rPr lang="en-US" sz="10364" b="true">
                <a:solidFill>
                  <a:srgbClr val="014665"/>
                </a:solidFill>
                <a:latin typeface="Araboto Bold"/>
                <a:ea typeface="Araboto Bold"/>
                <a:cs typeface="Araboto Bold"/>
                <a:sym typeface="Araboto Bold"/>
              </a:rPr>
              <a:t>EventEase:</a:t>
            </a:r>
          </a:p>
          <a:p>
            <a:pPr algn="ctr">
              <a:lnSpc>
                <a:spcPts val="14510"/>
              </a:lnSpc>
            </a:pPr>
            <a:r>
              <a:rPr lang="en-US" sz="10364" b="true">
                <a:solidFill>
                  <a:srgbClr val="014665"/>
                </a:solidFill>
                <a:latin typeface="Araboto Bold"/>
                <a:ea typeface="Araboto Bold"/>
                <a:cs typeface="Araboto Bold"/>
                <a:sym typeface="Araboto Bold"/>
              </a:rPr>
              <a:t>Event Registration</a:t>
            </a:r>
          </a:p>
          <a:p>
            <a:pPr algn="ctr">
              <a:lnSpc>
                <a:spcPts val="14510"/>
              </a:lnSpc>
            </a:pPr>
            <a:r>
              <a:rPr lang="en-US" sz="10364" b="true">
                <a:solidFill>
                  <a:srgbClr val="014665"/>
                </a:solidFill>
                <a:latin typeface="Araboto Bold"/>
                <a:ea typeface="Araboto Bold"/>
                <a:cs typeface="Araboto Bold"/>
                <a:sym typeface="Araboto Bold"/>
              </a:rPr>
              <a:t>Platform</a:t>
            </a:r>
          </a:p>
          <a:p>
            <a:pPr algn="ctr">
              <a:lnSpc>
                <a:spcPts val="14510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704626" y="9782175"/>
            <a:ext cx="4878748" cy="2449250"/>
          </a:xfrm>
          <a:custGeom>
            <a:avLst/>
            <a:gdLst/>
            <a:ahLst/>
            <a:cxnLst/>
            <a:rect r="r" b="b" t="t" l="l"/>
            <a:pathLst>
              <a:path h="2449250" w="4878748">
                <a:moveTo>
                  <a:pt x="0" y="0"/>
                </a:moveTo>
                <a:lnTo>
                  <a:pt x="4878748" y="0"/>
                </a:lnTo>
                <a:lnTo>
                  <a:pt x="4878748" y="2449250"/>
                </a:lnTo>
                <a:lnTo>
                  <a:pt x="0" y="2449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6704626" y="-1944425"/>
            <a:ext cx="4878748" cy="2449250"/>
          </a:xfrm>
          <a:custGeom>
            <a:avLst/>
            <a:gdLst/>
            <a:ahLst/>
            <a:cxnLst/>
            <a:rect r="r" b="b" t="t" l="l"/>
            <a:pathLst>
              <a:path h="2449250" w="4878748">
                <a:moveTo>
                  <a:pt x="0" y="2449250"/>
                </a:moveTo>
                <a:lnTo>
                  <a:pt x="4878748" y="2449250"/>
                </a:lnTo>
                <a:lnTo>
                  <a:pt x="4878748" y="0"/>
                </a:lnTo>
                <a:lnTo>
                  <a:pt x="0" y="0"/>
                </a:lnTo>
                <a:lnTo>
                  <a:pt x="0" y="244925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99625" y="6717925"/>
            <a:ext cx="4934077" cy="3313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3794">
                <a:solidFill>
                  <a:srgbClr val="014665"/>
                </a:solidFill>
                <a:latin typeface="Araboto"/>
                <a:ea typeface="Araboto"/>
                <a:cs typeface="Araboto"/>
                <a:sym typeface="Araboto"/>
              </a:rPr>
              <a:t>Team Members:-</a:t>
            </a:r>
          </a:p>
          <a:p>
            <a:pPr algn="l" marL="819209" indent="-409605" lvl="1">
              <a:lnSpc>
                <a:spcPts val="5312"/>
              </a:lnSpc>
              <a:buFont typeface="Arial"/>
              <a:buChar char="•"/>
            </a:pPr>
            <a:r>
              <a:rPr lang="en-US" sz="3794">
                <a:solidFill>
                  <a:srgbClr val="014665"/>
                </a:solidFill>
                <a:latin typeface="Araboto"/>
                <a:ea typeface="Araboto"/>
                <a:cs typeface="Araboto"/>
                <a:sym typeface="Araboto"/>
              </a:rPr>
              <a:t>Aryan sinha</a:t>
            </a:r>
          </a:p>
          <a:p>
            <a:pPr algn="l" marL="819209" indent="-409605" lvl="1">
              <a:lnSpc>
                <a:spcPts val="5312"/>
              </a:lnSpc>
              <a:buFont typeface="Arial"/>
              <a:buChar char="•"/>
            </a:pPr>
            <a:r>
              <a:rPr lang="en-US" sz="3794">
                <a:solidFill>
                  <a:srgbClr val="014665"/>
                </a:solidFill>
                <a:latin typeface="Araboto"/>
                <a:ea typeface="Araboto"/>
                <a:cs typeface="Araboto"/>
                <a:sym typeface="Araboto"/>
              </a:rPr>
              <a:t>Shriya garg</a:t>
            </a:r>
          </a:p>
          <a:p>
            <a:pPr algn="l" marL="819209" indent="-409605" lvl="1">
              <a:lnSpc>
                <a:spcPts val="5312"/>
              </a:lnSpc>
              <a:buFont typeface="Arial"/>
              <a:buChar char="•"/>
            </a:pPr>
            <a:r>
              <a:rPr lang="en-US" sz="3794">
                <a:solidFill>
                  <a:srgbClr val="014665"/>
                </a:solidFill>
                <a:latin typeface="Araboto"/>
                <a:ea typeface="Araboto"/>
                <a:cs typeface="Araboto"/>
                <a:sym typeface="Araboto"/>
              </a:rPr>
              <a:t>Elango Sowmya</a:t>
            </a:r>
          </a:p>
          <a:p>
            <a:pPr algn="l">
              <a:lnSpc>
                <a:spcPts val="5312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9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04825"/>
            <a:ext cx="16666882" cy="9277350"/>
            <a:chOff x="0" y="0"/>
            <a:chExt cx="4389631" cy="24434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9631" cy="2443417"/>
            </a:xfrm>
            <a:custGeom>
              <a:avLst/>
              <a:gdLst/>
              <a:ahLst/>
              <a:cxnLst/>
              <a:rect r="r" b="b" t="t" l="l"/>
              <a:pathLst>
                <a:path h="2443417" w="4389631">
                  <a:moveTo>
                    <a:pt x="17187" y="0"/>
                  </a:moveTo>
                  <a:lnTo>
                    <a:pt x="4372444" y="0"/>
                  </a:lnTo>
                  <a:cubicBezTo>
                    <a:pt x="4381936" y="0"/>
                    <a:pt x="4389631" y="7695"/>
                    <a:pt x="4389631" y="17187"/>
                  </a:cubicBezTo>
                  <a:lnTo>
                    <a:pt x="4389631" y="2426231"/>
                  </a:lnTo>
                  <a:cubicBezTo>
                    <a:pt x="4389631" y="2435722"/>
                    <a:pt x="4381936" y="2443417"/>
                    <a:pt x="4372444" y="2443417"/>
                  </a:cubicBezTo>
                  <a:lnTo>
                    <a:pt x="17187" y="2443417"/>
                  </a:lnTo>
                  <a:cubicBezTo>
                    <a:pt x="7695" y="2443417"/>
                    <a:pt x="0" y="2435722"/>
                    <a:pt x="0" y="2426231"/>
                  </a:cubicBezTo>
                  <a:lnTo>
                    <a:pt x="0" y="17187"/>
                  </a:lnTo>
                  <a:cubicBezTo>
                    <a:pt x="0" y="7695"/>
                    <a:pt x="7695" y="0"/>
                    <a:pt x="17187" y="0"/>
                  </a:cubicBezTo>
                  <a:close/>
                </a:path>
              </a:pathLst>
            </a:custGeom>
            <a:solidFill>
              <a:srgbClr val="F1FB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89631" cy="2481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137040" y="1543050"/>
            <a:ext cx="6402255" cy="7200900"/>
          </a:xfrm>
          <a:custGeom>
            <a:avLst/>
            <a:gdLst/>
            <a:ahLst/>
            <a:cxnLst/>
            <a:rect r="r" b="b" t="t" l="l"/>
            <a:pathLst>
              <a:path h="7200900" w="6402255">
                <a:moveTo>
                  <a:pt x="0" y="0"/>
                </a:moveTo>
                <a:lnTo>
                  <a:pt x="6402254" y="0"/>
                </a:lnTo>
                <a:lnTo>
                  <a:pt x="6402254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96998" y="517525"/>
            <a:ext cx="10494004" cy="1860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true">
                <a:solidFill>
                  <a:srgbClr val="014665"/>
                </a:solidFill>
                <a:latin typeface="Araboto Bold"/>
                <a:ea typeface="Araboto Bold"/>
                <a:cs typeface="Araboto Bold"/>
                <a:sym typeface="Araboto Bold"/>
              </a:rPr>
              <a:t>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65214" y="2320925"/>
            <a:ext cx="14465546" cy="7579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19736" indent="-309868" lvl="1">
              <a:lnSpc>
                <a:spcPts val="4018"/>
              </a:lnSpc>
              <a:buFont typeface="Arial"/>
              <a:buChar char="•"/>
            </a:pPr>
            <a:r>
              <a:rPr lang="en-US" sz="2870">
                <a:solidFill>
                  <a:srgbClr val="014665"/>
                </a:solidFill>
                <a:latin typeface="Duru Sans"/>
                <a:ea typeface="Duru Sans"/>
                <a:cs typeface="Duru Sans"/>
                <a:sym typeface="Duru Sans"/>
              </a:rPr>
              <a:t>EventEase is a full-stack cloud-based event management and registration platform.</a:t>
            </a:r>
          </a:p>
          <a:p>
            <a:pPr algn="just">
              <a:lnSpc>
                <a:spcPts val="4018"/>
              </a:lnSpc>
            </a:pPr>
          </a:p>
          <a:p>
            <a:pPr algn="just" marL="619736" indent="-309868" lvl="1">
              <a:lnSpc>
                <a:spcPts val="4018"/>
              </a:lnSpc>
              <a:buFont typeface="Arial"/>
              <a:buChar char="•"/>
            </a:pPr>
            <a:r>
              <a:rPr lang="en-US" sz="2870">
                <a:solidFill>
                  <a:srgbClr val="014665"/>
                </a:solidFill>
                <a:latin typeface="Duru Sans"/>
                <a:ea typeface="Duru Sans"/>
                <a:cs typeface="Duru Sans"/>
                <a:sym typeface="Duru Sans"/>
              </a:rPr>
              <a:t>Designed to overcome common issues like poor user experience, lack of responsiveness, and limited admin control.</a:t>
            </a:r>
          </a:p>
          <a:p>
            <a:pPr algn="just">
              <a:lnSpc>
                <a:spcPts val="4018"/>
              </a:lnSpc>
            </a:pPr>
          </a:p>
          <a:p>
            <a:pPr algn="just" marL="619736" indent="-309868" lvl="1">
              <a:lnSpc>
                <a:spcPts val="4018"/>
              </a:lnSpc>
              <a:buFont typeface="Arial"/>
              <a:buChar char="•"/>
            </a:pPr>
            <a:r>
              <a:rPr lang="en-US" sz="2870">
                <a:solidFill>
                  <a:srgbClr val="014665"/>
                </a:solidFill>
                <a:latin typeface="Duru Sans"/>
                <a:ea typeface="Duru Sans"/>
                <a:cs typeface="Duru Sans"/>
                <a:sym typeface="Duru Sans"/>
              </a:rPr>
              <a:t>Provides a unified solution for both event attendees (easy discovery &amp; booking) and organizers (secure management tools).</a:t>
            </a:r>
          </a:p>
          <a:p>
            <a:pPr algn="just">
              <a:lnSpc>
                <a:spcPts val="4018"/>
              </a:lnSpc>
            </a:pPr>
          </a:p>
          <a:p>
            <a:pPr algn="just" marL="619736" indent="-309868" lvl="1">
              <a:lnSpc>
                <a:spcPts val="4018"/>
              </a:lnSpc>
              <a:buFont typeface="Arial"/>
              <a:buChar char="•"/>
            </a:pPr>
            <a:r>
              <a:rPr lang="en-US" sz="2870">
                <a:solidFill>
                  <a:srgbClr val="014665"/>
                </a:solidFill>
                <a:latin typeface="Duru Sans"/>
                <a:ea typeface="Duru Sans"/>
                <a:cs typeface="Duru Sans"/>
                <a:sym typeface="Duru Sans"/>
              </a:rPr>
              <a:t>Built using Next.js, Node.js, MongoDB, and JWT authentication with cloud deployment on Vercel.</a:t>
            </a:r>
          </a:p>
          <a:p>
            <a:pPr algn="just">
              <a:lnSpc>
                <a:spcPts val="4018"/>
              </a:lnSpc>
            </a:pPr>
          </a:p>
          <a:p>
            <a:pPr algn="just" marL="619736" indent="-309868" lvl="1">
              <a:lnSpc>
                <a:spcPts val="4018"/>
              </a:lnSpc>
              <a:buFont typeface="Arial"/>
              <a:buChar char="•"/>
            </a:pPr>
            <a:r>
              <a:rPr lang="en-US" sz="2870">
                <a:solidFill>
                  <a:srgbClr val="014665"/>
                </a:solidFill>
                <a:latin typeface="Duru Sans"/>
                <a:ea typeface="Duru Sans"/>
                <a:cs typeface="Duru Sans"/>
                <a:sym typeface="Duru Sans"/>
              </a:rPr>
              <a:t>Ensures real-time booking, secure authentication, and automated confirmations for a seamless experience.</a:t>
            </a:r>
          </a:p>
          <a:p>
            <a:pPr algn="just">
              <a:lnSpc>
                <a:spcPts val="4018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71512" y="4528219"/>
            <a:ext cx="1073252" cy="111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53"/>
              </a:lnSpc>
            </a:pPr>
            <a:r>
              <a:rPr lang="en-US" sz="5967" b="true">
                <a:solidFill>
                  <a:srgbClr val="F1FBFF"/>
                </a:solidFill>
                <a:latin typeface="Araboto Bold"/>
                <a:ea typeface="Araboto Bold"/>
                <a:cs typeface="Araboto Bold"/>
                <a:sym typeface="Araboto Bold"/>
              </a:rPr>
              <a:t>01</a:t>
            </a:r>
          </a:p>
        </p:txBody>
      </p:sp>
      <p:sp>
        <p:nvSpPr>
          <p:cNvPr name="Freeform 9" id="9"/>
          <p:cNvSpPr/>
          <p:nvPr/>
        </p:nvSpPr>
        <p:spPr>
          <a:xfrm flipH="false" flipV="true" rot="-5400000">
            <a:off x="16044551" y="3918875"/>
            <a:ext cx="4878748" cy="2449250"/>
          </a:xfrm>
          <a:custGeom>
            <a:avLst/>
            <a:gdLst/>
            <a:ahLst/>
            <a:cxnLst/>
            <a:rect r="r" b="b" t="t" l="l"/>
            <a:pathLst>
              <a:path h="2449250" w="4878748">
                <a:moveTo>
                  <a:pt x="0" y="2449250"/>
                </a:moveTo>
                <a:lnTo>
                  <a:pt x="4878748" y="2449250"/>
                </a:lnTo>
                <a:lnTo>
                  <a:pt x="4878748" y="0"/>
                </a:lnTo>
                <a:lnTo>
                  <a:pt x="0" y="0"/>
                </a:lnTo>
                <a:lnTo>
                  <a:pt x="0" y="24492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6480833" y="3918875"/>
            <a:ext cx="4878748" cy="2449250"/>
          </a:xfrm>
          <a:custGeom>
            <a:avLst/>
            <a:gdLst/>
            <a:ahLst/>
            <a:cxnLst/>
            <a:rect r="r" b="b" t="t" l="l"/>
            <a:pathLst>
              <a:path h="2449250" w="4878748">
                <a:moveTo>
                  <a:pt x="0" y="0"/>
                </a:moveTo>
                <a:lnTo>
                  <a:pt x="4878748" y="0"/>
                </a:lnTo>
                <a:lnTo>
                  <a:pt x="4878748" y="2449250"/>
                </a:lnTo>
                <a:lnTo>
                  <a:pt x="0" y="2449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9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04825"/>
            <a:ext cx="16666882" cy="9277350"/>
            <a:chOff x="0" y="0"/>
            <a:chExt cx="4389631" cy="24434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9631" cy="2443417"/>
            </a:xfrm>
            <a:custGeom>
              <a:avLst/>
              <a:gdLst/>
              <a:ahLst/>
              <a:cxnLst/>
              <a:rect r="r" b="b" t="t" l="l"/>
              <a:pathLst>
                <a:path h="2443417" w="4389631">
                  <a:moveTo>
                    <a:pt x="17187" y="0"/>
                  </a:moveTo>
                  <a:lnTo>
                    <a:pt x="4372444" y="0"/>
                  </a:lnTo>
                  <a:cubicBezTo>
                    <a:pt x="4381936" y="0"/>
                    <a:pt x="4389631" y="7695"/>
                    <a:pt x="4389631" y="17187"/>
                  </a:cubicBezTo>
                  <a:lnTo>
                    <a:pt x="4389631" y="2426231"/>
                  </a:lnTo>
                  <a:cubicBezTo>
                    <a:pt x="4389631" y="2435722"/>
                    <a:pt x="4381936" y="2443417"/>
                    <a:pt x="4372444" y="2443417"/>
                  </a:cubicBezTo>
                  <a:lnTo>
                    <a:pt x="17187" y="2443417"/>
                  </a:lnTo>
                  <a:cubicBezTo>
                    <a:pt x="7695" y="2443417"/>
                    <a:pt x="0" y="2435722"/>
                    <a:pt x="0" y="2426231"/>
                  </a:cubicBezTo>
                  <a:lnTo>
                    <a:pt x="0" y="17187"/>
                  </a:lnTo>
                  <a:cubicBezTo>
                    <a:pt x="0" y="7695"/>
                    <a:pt x="7695" y="0"/>
                    <a:pt x="17187" y="0"/>
                  </a:cubicBezTo>
                  <a:close/>
                </a:path>
              </a:pathLst>
            </a:custGeom>
            <a:solidFill>
              <a:srgbClr val="F1FB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89631" cy="2481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137040" y="1543050"/>
            <a:ext cx="6402255" cy="7200900"/>
          </a:xfrm>
          <a:custGeom>
            <a:avLst/>
            <a:gdLst/>
            <a:ahLst/>
            <a:cxnLst/>
            <a:rect r="r" b="b" t="t" l="l"/>
            <a:pathLst>
              <a:path h="7200900" w="6402255">
                <a:moveTo>
                  <a:pt x="0" y="0"/>
                </a:moveTo>
                <a:lnTo>
                  <a:pt x="6402254" y="0"/>
                </a:lnTo>
                <a:lnTo>
                  <a:pt x="6402254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1512" y="4528219"/>
            <a:ext cx="1073252" cy="111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53"/>
              </a:lnSpc>
            </a:pPr>
            <a:r>
              <a:rPr lang="en-US" sz="5967" b="true">
                <a:solidFill>
                  <a:srgbClr val="F1FBFF"/>
                </a:solidFill>
                <a:latin typeface="Araboto Bold"/>
                <a:ea typeface="Araboto Bold"/>
                <a:cs typeface="Araboto Bold"/>
                <a:sym typeface="Araboto Bold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55768" y="517525"/>
            <a:ext cx="9212745" cy="1860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true">
                <a:solidFill>
                  <a:srgbClr val="014665"/>
                </a:solidFill>
                <a:latin typeface="Araboto Bold"/>
                <a:ea typeface="Araboto Bold"/>
                <a:cs typeface="Araboto Bold"/>
                <a:sym typeface="Araboto Bold"/>
              </a:rPr>
              <a:t>PROBLEMS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15542" y="3049905"/>
            <a:ext cx="12893198" cy="569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14665"/>
                </a:solidFill>
                <a:latin typeface="Duru Sans"/>
                <a:ea typeface="Duru Sans"/>
                <a:cs typeface="Duru Sans"/>
                <a:sym typeface="Duru Sans"/>
              </a:rPr>
              <a:t>Traditional event registration is manual and inefficient.</a:t>
            </a:r>
          </a:p>
          <a:p>
            <a:pPr algn="just">
              <a:lnSpc>
                <a:spcPts val="3779"/>
              </a:lnSpc>
            </a:pPr>
          </a:p>
          <a:p>
            <a:pPr algn="just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14665"/>
                </a:solidFill>
                <a:latin typeface="Duru Sans"/>
                <a:ea typeface="Duru Sans"/>
                <a:cs typeface="Duru Sans"/>
                <a:sym typeface="Duru Sans"/>
              </a:rPr>
              <a:t>Poor user experience with clunky interfaces.</a:t>
            </a:r>
          </a:p>
          <a:p>
            <a:pPr algn="just">
              <a:lnSpc>
                <a:spcPts val="3779"/>
              </a:lnSpc>
            </a:pPr>
          </a:p>
          <a:p>
            <a:pPr algn="just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14665"/>
                </a:solidFill>
                <a:latin typeface="Duru Sans"/>
                <a:ea typeface="Duru Sans"/>
                <a:cs typeface="Duru Sans"/>
                <a:sym typeface="Duru Sans"/>
              </a:rPr>
              <a:t>No mobile responsiveness, limiting accessibility.</a:t>
            </a:r>
          </a:p>
          <a:p>
            <a:pPr algn="just">
              <a:lnSpc>
                <a:spcPts val="3779"/>
              </a:lnSpc>
            </a:pPr>
          </a:p>
          <a:p>
            <a:pPr algn="just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14665"/>
                </a:solidFill>
                <a:latin typeface="Duru Sans"/>
                <a:ea typeface="Duru Sans"/>
                <a:cs typeface="Duru Sans"/>
                <a:sym typeface="Duru Sans"/>
              </a:rPr>
              <a:t>Security issues in handling user data.</a:t>
            </a:r>
          </a:p>
          <a:p>
            <a:pPr algn="just">
              <a:lnSpc>
                <a:spcPts val="3779"/>
              </a:lnSpc>
            </a:pPr>
          </a:p>
          <a:p>
            <a:pPr algn="just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14665"/>
                </a:solidFill>
                <a:latin typeface="Duru Sans"/>
                <a:ea typeface="Duru Sans"/>
                <a:cs typeface="Duru Sans"/>
                <a:sym typeface="Duru Sans"/>
              </a:rPr>
              <a:t>Limited tools for organizers to manage events.</a:t>
            </a:r>
          </a:p>
          <a:p>
            <a:pPr algn="just">
              <a:lnSpc>
                <a:spcPts val="3779"/>
              </a:lnSpc>
            </a:pPr>
          </a:p>
          <a:p>
            <a:pPr algn="just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14665"/>
                </a:solidFill>
                <a:latin typeface="Duru Sans"/>
                <a:ea typeface="Duru Sans"/>
                <a:cs typeface="Duru Sans"/>
                <a:sym typeface="Duru Sans"/>
              </a:rPr>
              <a:t>Unreliable email confirmations and communication gaps.</a:t>
            </a:r>
          </a:p>
          <a:p>
            <a:pPr algn="just">
              <a:lnSpc>
                <a:spcPts val="3779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true" rot="-5400000">
            <a:off x="16044551" y="3918875"/>
            <a:ext cx="4878748" cy="2449250"/>
          </a:xfrm>
          <a:custGeom>
            <a:avLst/>
            <a:gdLst/>
            <a:ahLst/>
            <a:cxnLst/>
            <a:rect r="r" b="b" t="t" l="l"/>
            <a:pathLst>
              <a:path h="2449250" w="4878748">
                <a:moveTo>
                  <a:pt x="0" y="2449250"/>
                </a:moveTo>
                <a:lnTo>
                  <a:pt x="4878748" y="2449250"/>
                </a:lnTo>
                <a:lnTo>
                  <a:pt x="4878748" y="0"/>
                </a:lnTo>
                <a:lnTo>
                  <a:pt x="0" y="0"/>
                </a:lnTo>
                <a:lnTo>
                  <a:pt x="0" y="24492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6480833" y="3918875"/>
            <a:ext cx="4878748" cy="2449250"/>
          </a:xfrm>
          <a:custGeom>
            <a:avLst/>
            <a:gdLst/>
            <a:ahLst/>
            <a:cxnLst/>
            <a:rect r="r" b="b" t="t" l="l"/>
            <a:pathLst>
              <a:path h="2449250" w="4878748">
                <a:moveTo>
                  <a:pt x="0" y="0"/>
                </a:moveTo>
                <a:lnTo>
                  <a:pt x="4878748" y="0"/>
                </a:lnTo>
                <a:lnTo>
                  <a:pt x="4878748" y="2449250"/>
                </a:lnTo>
                <a:lnTo>
                  <a:pt x="0" y="2449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9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04825"/>
            <a:ext cx="16666882" cy="9277350"/>
            <a:chOff x="0" y="0"/>
            <a:chExt cx="4389631" cy="24434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9631" cy="2443417"/>
            </a:xfrm>
            <a:custGeom>
              <a:avLst/>
              <a:gdLst/>
              <a:ahLst/>
              <a:cxnLst/>
              <a:rect r="r" b="b" t="t" l="l"/>
              <a:pathLst>
                <a:path h="2443417" w="4389631">
                  <a:moveTo>
                    <a:pt x="17187" y="0"/>
                  </a:moveTo>
                  <a:lnTo>
                    <a:pt x="4372444" y="0"/>
                  </a:lnTo>
                  <a:cubicBezTo>
                    <a:pt x="4381936" y="0"/>
                    <a:pt x="4389631" y="7695"/>
                    <a:pt x="4389631" y="17187"/>
                  </a:cubicBezTo>
                  <a:lnTo>
                    <a:pt x="4389631" y="2426231"/>
                  </a:lnTo>
                  <a:cubicBezTo>
                    <a:pt x="4389631" y="2435722"/>
                    <a:pt x="4381936" y="2443417"/>
                    <a:pt x="4372444" y="2443417"/>
                  </a:cubicBezTo>
                  <a:lnTo>
                    <a:pt x="17187" y="2443417"/>
                  </a:lnTo>
                  <a:cubicBezTo>
                    <a:pt x="7695" y="2443417"/>
                    <a:pt x="0" y="2435722"/>
                    <a:pt x="0" y="2426231"/>
                  </a:cubicBezTo>
                  <a:lnTo>
                    <a:pt x="0" y="17187"/>
                  </a:lnTo>
                  <a:cubicBezTo>
                    <a:pt x="0" y="7695"/>
                    <a:pt x="7695" y="0"/>
                    <a:pt x="17187" y="0"/>
                  </a:cubicBezTo>
                  <a:close/>
                </a:path>
              </a:pathLst>
            </a:custGeom>
            <a:solidFill>
              <a:srgbClr val="F1FB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89631" cy="2481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137040" y="1543050"/>
            <a:ext cx="6402255" cy="7200900"/>
          </a:xfrm>
          <a:custGeom>
            <a:avLst/>
            <a:gdLst/>
            <a:ahLst/>
            <a:cxnLst/>
            <a:rect r="r" b="b" t="t" l="l"/>
            <a:pathLst>
              <a:path h="7200900" w="6402255">
                <a:moveTo>
                  <a:pt x="0" y="0"/>
                </a:moveTo>
                <a:lnTo>
                  <a:pt x="6402254" y="0"/>
                </a:lnTo>
                <a:lnTo>
                  <a:pt x="6402254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1512" y="4528219"/>
            <a:ext cx="1073252" cy="111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53"/>
              </a:lnSpc>
            </a:pPr>
            <a:r>
              <a:rPr lang="en-US" sz="5967" b="true">
                <a:solidFill>
                  <a:srgbClr val="F1FBFF"/>
                </a:solidFill>
                <a:latin typeface="Araboto Bold"/>
                <a:ea typeface="Araboto Bold"/>
                <a:cs typeface="Araboto Bold"/>
                <a:sym typeface="Araboto Bold"/>
              </a:rPr>
              <a:t>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37627" y="517525"/>
            <a:ext cx="9212745" cy="1860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true">
                <a:solidFill>
                  <a:srgbClr val="014665"/>
                </a:solidFill>
                <a:latin typeface="Araboto Bold"/>
                <a:ea typeface="Araboto Bold"/>
                <a:cs typeface="Araboto Bold"/>
                <a:sym typeface="Araboto Bold"/>
              </a:rPr>
              <a:t>FEATURES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81596" y="2744070"/>
            <a:ext cx="14361323" cy="6514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74136" indent="-287068" lvl="1">
              <a:lnSpc>
                <a:spcPts val="3722"/>
              </a:lnSpc>
              <a:buFont typeface="Arial"/>
              <a:buChar char="•"/>
            </a:pPr>
            <a:r>
              <a:rPr lang="en-US" sz="2659">
                <a:solidFill>
                  <a:srgbClr val="000000"/>
                </a:solidFill>
                <a:latin typeface="Duru Sans"/>
                <a:ea typeface="Duru Sans"/>
                <a:cs typeface="Duru Sans"/>
                <a:sym typeface="Duru Sans"/>
              </a:rPr>
              <a:t>Secure Authentication</a:t>
            </a:r>
            <a:r>
              <a:rPr lang="en-US" sz="2659">
                <a:solidFill>
                  <a:srgbClr val="014665"/>
                </a:solidFill>
                <a:latin typeface="Duru Sans"/>
                <a:ea typeface="Duru Sans"/>
                <a:cs typeface="Duru Sans"/>
                <a:sym typeface="Duru Sans"/>
              </a:rPr>
              <a:t> – User &amp; admin login with JWT</a:t>
            </a:r>
          </a:p>
          <a:p>
            <a:pPr algn="just">
              <a:lnSpc>
                <a:spcPts val="3722"/>
              </a:lnSpc>
            </a:pPr>
          </a:p>
          <a:p>
            <a:pPr algn="just" marL="574136" indent="-287068" lvl="1">
              <a:lnSpc>
                <a:spcPts val="3722"/>
              </a:lnSpc>
              <a:buFont typeface="Arial"/>
              <a:buChar char="•"/>
            </a:pPr>
            <a:r>
              <a:rPr lang="en-US" sz="2659">
                <a:solidFill>
                  <a:srgbClr val="000000"/>
                </a:solidFill>
                <a:latin typeface="Duru Sans"/>
                <a:ea typeface="Duru Sans"/>
                <a:cs typeface="Duru Sans"/>
                <a:sym typeface="Duru Sans"/>
              </a:rPr>
              <a:t>Responsive Design</a:t>
            </a:r>
            <a:r>
              <a:rPr lang="en-US" sz="2659">
                <a:solidFill>
                  <a:srgbClr val="014665"/>
                </a:solidFill>
                <a:latin typeface="Duru Sans"/>
                <a:ea typeface="Duru Sans"/>
                <a:cs typeface="Duru Sans"/>
                <a:sym typeface="Duru Sans"/>
              </a:rPr>
              <a:t> – Works seamlessly on mobile, tablet, and desktop</a:t>
            </a:r>
          </a:p>
          <a:p>
            <a:pPr algn="just">
              <a:lnSpc>
                <a:spcPts val="3722"/>
              </a:lnSpc>
            </a:pPr>
          </a:p>
          <a:p>
            <a:pPr algn="just" marL="574136" indent="-287068" lvl="1">
              <a:lnSpc>
                <a:spcPts val="3722"/>
              </a:lnSpc>
              <a:buFont typeface="Arial"/>
              <a:buChar char="•"/>
            </a:pPr>
            <a:r>
              <a:rPr lang="en-US" sz="2659">
                <a:solidFill>
                  <a:srgbClr val="000000"/>
                </a:solidFill>
                <a:latin typeface="Duru Sans"/>
                <a:ea typeface="Duru Sans"/>
                <a:cs typeface="Duru Sans"/>
                <a:sym typeface="Duru Sans"/>
              </a:rPr>
              <a:t>Real-Time Booking</a:t>
            </a:r>
            <a:r>
              <a:rPr lang="en-US" sz="2659">
                <a:solidFill>
                  <a:srgbClr val="014665"/>
                </a:solidFill>
                <a:latin typeface="Duru Sans"/>
                <a:ea typeface="Duru Sans"/>
                <a:cs typeface="Duru Sans"/>
                <a:sym typeface="Duru Sans"/>
              </a:rPr>
              <a:t> – Instant registration with unique booking IDs</a:t>
            </a:r>
          </a:p>
          <a:p>
            <a:pPr algn="just">
              <a:lnSpc>
                <a:spcPts val="3722"/>
              </a:lnSpc>
            </a:pPr>
          </a:p>
          <a:p>
            <a:pPr algn="just" marL="574136" indent="-287068" lvl="1">
              <a:lnSpc>
                <a:spcPts val="3722"/>
              </a:lnSpc>
              <a:buFont typeface="Arial"/>
              <a:buChar char="•"/>
            </a:pPr>
            <a:r>
              <a:rPr lang="en-US" sz="2659">
                <a:solidFill>
                  <a:srgbClr val="000000"/>
                </a:solidFill>
                <a:latin typeface="Duru Sans"/>
                <a:ea typeface="Duru Sans"/>
                <a:cs typeface="Duru Sans"/>
                <a:sym typeface="Duru Sans"/>
              </a:rPr>
              <a:t>Automated Emails</a:t>
            </a:r>
            <a:r>
              <a:rPr lang="en-US" sz="2659">
                <a:solidFill>
                  <a:srgbClr val="014665"/>
                </a:solidFill>
                <a:latin typeface="Duru Sans"/>
                <a:ea typeface="Duru Sans"/>
                <a:cs typeface="Duru Sans"/>
                <a:sym typeface="Duru Sans"/>
              </a:rPr>
              <a:t> – Professional confirmations via SendGrid</a:t>
            </a:r>
          </a:p>
          <a:p>
            <a:pPr algn="just">
              <a:lnSpc>
                <a:spcPts val="3722"/>
              </a:lnSpc>
            </a:pPr>
          </a:p>
          <a:p>
            <a:pPr algn="just" marL="574136" indent="-287068" lvl="1">
              <a:lnSpc>
                <a:spcPts val="3722"/>
              </a:lnSpc>
              <a:buFont typeface="Arial"/>
              <a:buChar char="•"/>
            </a:pPr>
            <a:r>
              <a:rPr lang="en-US" sz="2659">
                <a:solidFill>
                  <a:srgbClr val="000000"/>
                </a:solidFill>
                <a:latin typeface="Duru Sans"/>
                <a:ea typeface="Duru Sans"/>
                <a:cs typeface="Duru Sans"/>
                <a:sym typeface="Duru Sans"/>
              </a:rPr>
              <a:t>Smart Filters </a:t>
            </a:r>
            <a:r>
              <a:rPr lang="en-US" sz="2659">
                <a:solidFill>
                  <a:srgbClr val="014665"/>
                </a:solidFill>
                <a:latin typeface="Duru Sans"/>
                <a:ea typeface="Duru Sans"/>
                <a:cs typeface="Duru Sans"/>
                <a:sym typeface="Duru Sans"/>
              </a:rPr>
              <a:t>– Search by date, price, category, and location</a:t>
            </a:r>
          </a:p>
          <a:p>
            <a:pPr algn="just">
              <a:lnSpc>
                <a:spcPts val="3722"/>
              </a:lnSpc>
            </a:pPr>
          </a:p>
          <a:p>
            <a:pPr algn="just" marL="574136" indent="-287068" lvl="1">
              <a:lnSpc>
                <a:spcPts val="3722"/>
              </a:lnSpc>
              <a:buFont typeface="Arial"/>
              <a:buChar char="•"/>
            </a:pPr>
            <a:r>
              <a:rPr lang="en-US" sz="2659">
                <a:solidFill>
                  <a:srgbClr val="000000"/>
                </a:solidFill>
                <a:latin typeface="Duru Sans"/>
                <a:ea typeface="Duru Sans"/>
                <a:cs typeface="Duru Sans"/>
                <a:sym typeface="Duru Sans"/>
              </a:rPr>
              <a:t>Event History </a:t>
            </a:r>
            <a:r>
              <a:rPr lang="en-US" sz="2659">
                <a:solidFill>
                  <a:srgbClr val="014665"/>
                </a:solidFill>
                <a:latin typeface="Duru Sans"/>
                <a:ea typeface="Duru Sans"/>
                <a:cs typeface="Duru Sans"/>
                <a:sym typeface="Duru Sans"/>
              </a:rPr>
              <a:t>– Easy tracking of past and upcoming bookings</a:t>
            </a:r>
          </a:p>
          <a:p>
            <a:pPr algn="just">
              <a:lnSpc>
                <a:spcPts val="3722"/>
              </a:lnSpc>
            </a:pPr>
          </a:p>
          <a:p>
            <a:pPr algn="just" marL="574136" indent="-287068" lvl="1">
              <a:lnSpc>
                <a:spcPts val="3722"/>
              </a:lnSpc>
              <a:buFont typeface="Arial"/>
              <a:buChar char="•"/>
            </a:pPr>
            <a:r>
              <a:rPr lang="en-US" sz="2659">
                <a:solidFill>
                  <a:srgbClr val="000000"/>
                </a:solidFill>
                <a:latin typeface="Duru Sans"/>
                <a:ea typeface="Duru Sans"/>
                <a:cs typeface="Duru Sans"/>
                <a:sym typeface="Duru Sans"/>
              </a:rPr>
              <a:t>Admin Dashboard</a:t>
            </a:r>
            <a:r>
              <a:rPr lang="en-US" sz="2659">
                <a:solidFill>
                  <a:srgbClr val="014665"/>
                </a:solidFill>
                <a:latin typeface="Duru Sans"/>
                <a:ea typeface="Duru Sans"/>
                <a:cs typeface="Duru Sans"/>
                <a:sym typeface="Duru Sans"/>
              </a:rPr>
              <a:t> – Event creation, booking management, analytics</a:t>
            </a:r>
          </a:p>
          <a:p>
            <a:pPr algn="just">
              <a:lnSpc>
                <a:spcPts val="3722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true" rot="-5400000">
            <a:off x="16044551" y="3918875"/>
            <a:ext cx="4878748" cy="2449250"/>
          </a:xfrm>
          <a:custGeom>
            <a:avLst/>
            <a:gdLst/>
            <a:ahLst/>
            <a:cxnLst/>
            <a:rect r="r" b="b" t="t" l="l"/>
            <a:pathLst>
              <a:path h="2449250" w="4878748">
                <a:moveTo>
                  <a:pt x="0" y="2449250"/>
                </a:moveTo>
                <a:lnTo>
                  <a:pt x="4878748" y="2449250"/>
                </a:lnTo>
                <a:lnTo>
                  <a:pt x="4878748" y="0"/>
                </a:lnTo>
                <a:lnTo>
                  <a:pt x="0" y="0"/>
                </a:lnTo>
                <a:lnTo>
                  <a:pt x="0" y="24492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6480833" y="3918875"/>
            <a:ext cx="4878748" cy="2449250"/>
          </a:xfrm>
          <a:custGeom>
            <a:avLst/>
            <a:gdLst/>
            <a:ahLst/>
            <a:cxnLst/>
            <a:rect r="r" b="b" t="t" l="l"/>
            <a:pathLst>
              <a:path h="2449250" w="4878748">
                <a:moveTo>
                  <a:pt x="0" y="0"/>
                </a:moveTo>
                <a:lnTo>
                  <a:pt x="4878748" y="0"/>
                </a:lnTo>
                <a:lnTo>
                  <a:pt x="4878748" y="2449250"/>
                </a:lnTo>
                <a:lnTo>
                  <a:pt x="0" y="2449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9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04825"/>
            <a:ext cx="16666882" cy="9277350"/>
            <a:chOff x="0" y="0"/>
            <a:chExt cx="4389631" cy="24434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9631" cy="2443417"/>
            </a:xfrm>
            <a:custGeom>
              <a:avLst/>
              <a:gdLst/>
              <a:ahLst/>
              <a:cxnLst/>
              <a:rect r="r" b="b" t="t" l="l"/>
              <a:pathLst>
                <a:path h="2443417" w="4389631">
                  <a:moveTo>
                    <a:pt x="17187" y="0"/>
                  </a:moveTo>
                  <a:lnTo>
                    <a:pt x="4372444" y="0"/>
                  </a:lnTo>
                  <a:cubicBezTo>
                    <a:pt x="4381936" y="0"/>
                    <a:pt x="4389631" y="7695"/>
                    <a:pt x="4389631" y="17187"/>
                  </a:cubicBezTo>
                  <a:lnTo>
                    <a:pt x="4389631" y="2426231"/>
                  </a:lnTo>
                  <a:cubicBezTo>
                    <a:pt x="4389631" y="2435722"/>
                    <a:pt x="4381936" y="2443417"/>
                    <a:pt x="4372444" y="2443417"/>
                  </a:cubicBezTo>
                  <a:lnTo>
                    <a:pt x="17187" y="2443417"/>
                  </a:lnTo>
                  <a:cubicBezTo>
                    <a:pt x="7695" y="2443417"/>
                    <a:pt x="0" y="2435722"/>
                    <a:pt x="0" y="2426231"/>
                  </a:cubicBezTo>
                  <a:lnTo>
                    <a:pt x="0" y="17187"/>
                  </a:lnTo>
                  <a:cubicBezTo>
                    <a:pt x="0" y="7695"/>
                    <a:pt x="7695" y="0"/>
                    <a:pt x="17187" y="0"/>
                  </a:cubicBezTo>
                  <a:close/>
                </a:path>
              </a:pathLst>
            </a:custGeom>
            <a:solidFill>
              <a:srgbClr val="F1FB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89631" cy="2481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137040" y="1543050"/>
            <a:ext cx="6402255" cy="7200900"/>
          </a:xfrm>
          <a:custGeom>
            <a:avLst/>
            <a:gdLst/>
            <a:ahLst/>
            <a:cxnLst/>
            <a:rect r="r" b="b" t="t" l="l"/>
            <a:pathLst>
              <a:path h="7200900" w="6402255">
                <a:moveTo>
                  <a:pt x="0" y="0"/>
                </a:moveTo>
                <a:lnTo>
                  <a:pt x="6402254" y="0"/>
                </a:lnTo>
                <a:lnTo>
                  <a:pt x="6402254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1512" y="4528219"/>
            <a:ext cx="1073252" cy="1113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53"/>
              </a:lnSpc>
            </a:pPr>
            <a:r>
              <a:rPr lang="en-US" sz="5967" b="true">
                <a:solidFill>
                  <a:srgbClr val="F1FBFF"/>
                </a:solidFill>
                <a:latin typeface="Araboto Bold"/>
                <a:ea typeface="Araboto Bold"/>
                <a:cs typeface="Araboto Bold"/>
                <a:sym typeface="Araboto Bold"/>
              </a:rPr>
              <a:t>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27488" y="517525"/>
            <a:ext cx="8033023" cy="1860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true">
                <a:solidFill>
                  <a:srgbClr val="014665"/>
                </a:solidFill>
                <a:latin typeface="Araboto Bold"/>
                <a:ea typeface="Araboto Bold"/>
                <a:cs typeface="Araboto Bold"/>
                <a:sym typeface="Araboto Bold"/>
              </a:rPr>
              <a:t>MODULES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65977" y="3018652"/>
            <a:ext cx="14593323" cy="5929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9719" indent="-304859" lvl="1">
              <a:lnSpc>
                <a:spcPts val="3953"/>
              </a:lnSpc>
              <a:buFont typeface="Arial"/>
              <a:buChar char="•"/>
            </a:pPr>
            <a:r>
              <a:rPr lang="en-US" sz="2824">
                <a:solidFill>
                  <a:srgbClr val="000000"/>
                </a:solidFill>
                <a:latin typeface="Duru Sans"/>
                <a:ea typeface="Duru Sans"/>
                <a:cs typeface="Duru Sans"/>
                <a:sym typeface="Duru Sans"/>
              </a:rPr>
              <a:t>Authentication</a:t>
            </a:r>
            <a:r>
              <a:rPr lang="en-US" sz="2824">
                <a:solidFill>
                  <a:srgbClr val="014665"/>
                </a:solidFill>
                <a:latin typeface="Duru Sans"/>
                <a:ea typeface="Duru Sans"/>
                <a:cs typeface="Duru Sans"/>
                <a:sym typeface="Duru Sans"/>
              </a:rPr>
              <a:t> – Secure user &amp; admin login/signup</a:t>
            </a:r>
          </a:p>
          <a:p>
            <a:pPr algn="just">
              <a:lnSpc>
                <a:spcPts val="3953"/>
              </a:lnSpc>
            </a:pPr>
          </a:p>
          <a:p>
            <a:pPr algn="just" marL="609719" indent="-304859" lvl="1">
              <a:lnSpc>
                <a:spcPts val="3953"/>
              </a:lnSpc>
              <a:buFont typeface="Arial"/>
              <a:buChar char="•"/>
            </a:pPr>
            <a:r>
              <a:rPr lang="en-US" sz="2824">
                <a:solidFill>
                  <a:srgbClr val="000000"/>
                </a:solidFill>
                <a:latin typeface="Duru Sans"/>
                <a:ea typeface="Duru Sans"/>
                <a:cs typeface="Duru Sans"/>
                <a:sym typeface="Duru Sans"/>
              </a:rPr>
              <a:t>Event Management</a:t>
            </a:r>
            <a:r>
              <a:rPr lang="en-US" sz="2824">
                <a:solidFill>
                  <a:srgbClr val="014665"/>
                </a:solidFill>
                <a:latin typeface="Duru Sans"/>
                <a:ea typeface="Duru Sans"/>
                <a:cs typeface="Duru Sans"/>
                <a:sym typeface="Duru Sans"/>
              </a:rPr>
              <a:t> – Create, edit, delete events; track availability</a:t>
            </a:r>
          </a:p>
          <a:p>
            <a:pPr algn="just">
              <a:lnSpc>
                <a:spcPts val="3953"/>
              </a:lnSpc>
            </a:pPr>
          </a:p>
          <a:p>
            <a:pPr algn="just" marL="609719" indent="-304859" lvl="1">
              <a:lnSpc>
                <a:spcPts val="3953"/>
              </a:lnSpc>
              <a:buFont typeface="Arial"/>
              <a:buChar char="•"/>
            </a:pPr>
            <a:r>
              <a:rPr lang="en-US" sz="2824">
                <a:solidFill>
                  <a:srgbClr val="000000"/>
                </a:solidFill>
                <a:latin typeface="Duru Sans"/>
                <a:ea typeface="Duru Sans"/>
                <a:cs typeface="Duru Sans"/>
                <a:sym typeface="Duru Sans"/>
              </a:rPr>
              <a:t>Booking System</a:t>
            </a:r>
            <a:r>
              <a:rPr lang="en-US" sz="2824">
                <a:solidFill>
                  <a:srgbClr val="014665"/>
                </a:solidFill>
                <a:latin typeface="Duru Sans"/>
                <a:ea typeface="Duru Sans"/>
                <a:cs typeface="Duru Sans"/>
                <a:sym typeface="Duru Sans"/>
              </a:rPr>
              <a:t> – Real-time booking, unique IDs, instant confirmation</a:t>
            </a:r>
          </a:p>
          <a:p>
            <a:pPr algn="just">
              <a:lnSpc>
                <a:spcPts val="3953"/>
              </a:lnSpc>
            </a:pPr>
          </a:p>
          <a:p>
            <a:pPr algn="just" marL="609719" indent="-304859" lvl="1">
              <a:lnSpc>
                <a:spcPts val="3953"/>
              </a:lnSpc>
              <a:buFont typeface="Arial"/>
              <a:buChar char="•"/>
            </a:pPr>
            <a:r>
              <a:rPr lang="en-US" sz="2824">
                <a:solidFill>
                  <a:srgbClr val="000000"/>
                </a:solidFill>
                <a:latin typeface="Duru Sans"/>
                <a:ea typeface="Duru Sans"/>
                <a:cs typeface="Duru Sans"/>
                <a:sym typeface="Duru Sans"/>
              </a:rPr>
              <a:t>User Interface</a:t>
            </a:r>
            <a:r>
              <a:rPr lang="en-US" sz="2824">
                <a:solidFill>
                  <a:srgbClr val="014665"/>
                </a:solidFill>
                <a:latin typeface="Duru Sans"/>
                <a:ea typeface="Duru Sans"/>
                <a:cs typeface="Duru Sans"/>
                <a:sym typeface="Duru Sans"/>
              </a:rPr>
              <a:t> – Responsive browsing, filters, event history</a:t>
            </a:r>
          </a:p>
          <a:p>
            <a:pPr algn="just">
              <a:lnSpc>
                <a:spcPts val="3953"/>
              </a:lnSpc>
            </a:pPr>
          </a:p>
          <a:p>
            <a:pPr algn="just" marL="609719" indent="-304859" lvl="1">
              <a:lnSpc>
                <a:spcPts val="3953"/>
              </a:lnSpc>
              <a:buFont typeface="Arial"/>
              <a:buChar char="•"/>
            </a:pPr>
            <a:r>
              <a:rPr lang="en-US" sz="2824">
                <a:solidFill>
                  <a:srgbClr val="000000"/>
                </a:solidFill>
                <a:latin typeface="Duru Sans"/>
                <a:ea typeface="Duru Sans"/>
                <a:cs typeface="Duru Sans"/>
                <a:sym typeface="Duru Sans"/>
              </a:rPr>
              <a:t>Admin Dashboard</a:t>
            </a:r>
            <a:r>
              <a:rPr lang="en-US" sz="2824">
                <a:solidFill>
                  <a:srgbClr val="014665"/>
                </a:solidFill>
                <a:latin typeface="Duru Sans"/>
                <a:ea typeface="Duru Sans"/>
                <a:cs typeface="Duru Sans"/>
                <a:sym typeface="Duru Sans"/>
              </a:rPr>
              <a:t> – Manage events, users, bookings, analytics</a:t>
            </a:r>
          </a:p>
          <a:p>
            <a:pPr algn="just">
              <a:lnSpc>
                <a:spcPts val="3953"/>
              </a:lnSpc>
            </a:pPr>
          </a:p>
          <a:p>
            <a:pPr algn="just" marL="609719" indent="-304859" lvl="1">
              <a:lnSpc>
                <a:spcPts val="3953"/>
              </a:lnSpc>
              <a:buFont typeface="Arial"/>
              <a:buChar char="•"/>
            </a:pPr>
            <a:r>
              <a:rPr lang="en-US" sz="2824">
                <a:solidFill>
                  <a:srgbClr val="000000"/>
                </a:solidFill>
                <a:latin typeface="Duru Sans"/>
                <a:ea typeface="Duru Sans"/>
                <a:cs typeface="Duru Sans"/>
                <a:sym typeface="Duru Sans"/>
              </a:rPr>
              <a:t>Email &amp; Notifications </a:t>
            </a:r>
            <a:r>
              <a:rPr lang="en-US" sz="2824">
                <a:solidFill>
                  <a:srgbClr val="014665"/>
                </a:solidFill>
                <a:latin typeface="Duru Sans"/>
                <a:ea typeface="Duru Sans"/>
                <a:cs typeface="Duru Sans"/>
                <a:sym typeface="Duru Sans"/>
              </a:rPr>
              <a:t>– Automated confirmations &amp; updates</a:t>
            </a:r>
          </a:p>
          <a:p>
            <a:pPr algn="just">
              <a:lnSpc>
                <a:spcPts val="3953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true" rot="-5400000">
            <a:off x="16044551" y="3918875"/>
            <a:ext cx="4878748" cy="2449250"/>
          </a:xfrm>
          <a:custGeom>
            <a:avLst/>
            <a:gdLst/>
            <a:ahLst/>
            <a:cxnLst/>
            <a:rect r="r" b="b" t="t" l="l"/>
            <a:pathLst>
              <a:path h="2449250" w="4878748">
                <a:moveTo>
                  <a:pt x="0" y="2449250"/>
                </a:moveTo>
                <a:lnTo>
                  <a:pt x="4878748" y="2449250"/>
                </a:lnTo>
                <a:lnTo>
                  <a:pt x="4878748" y="0"/>
                </a:lnTo>
                <a:lnTo>
                  <a:pt x="0" y="0"/>
                </a:lnTo>
                <a:lnTo>
                  <a:pt x="0" y="24492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6480833" y="3918875"/>
            <a:ext cx="4878748" cy="2449250"/>
          </a:xfrm>
          <a:custGeom>
            <a:avLst/>
            <a:gdLst/>
            <a:ahLst/>
            <a:cxnLst/>
            <a:rect r="r" b="b" t="t" l="l"/>
            <a:pathLst>
              <a:path h="2449250" w="4878748">
                <a:moveTo>
                  <a:pt x="0" y="0"/>
                </a:moveTo>
                <a:lnTo>
                  <a:pt x="4878748" y="0"/>
                </a:lnTo>
                <a:lnTo>
                  <a:pt x="4878748" y="2449250"/>
                </a:lnTo>
                <a:lnTo>
                  <a:pt x="0" y="2449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9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04825"/>
            <a:ext cx="16666882" cy="9277350"/>
            <a:chOff x="0" y="0"/>
            <a:chExt cx="4389631" cy="24434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9631" cy="2443417"/>
            </a:xfrm>
            <a:custGeom>
              <a:avLst/>
              <a:gdLst/>
              <a:ahLst/>
              <a:cxnLst/>
              <a:rect r="r" b="b" t="t" l="l"/>
              <a:pathLst>
                <a:path h="2443417" w="4389631">
                  <a:moveTo>
                    <a:pt x="17187" y="0"/>
                  </a:moveTo>
                  <a:lnTo>
                    <a:pt x="4372444" y="0"/>
                  </a:lnTo>
                  <a:cubicBezTo>
                    <a:pt x="4381936" y="0"/>
                    <a:pt x="4389631" y="7695"/>
                    <a:pt x="4389631" y="17187"/>
                  </a:cubicBezTo>
                  <a:lnTo>
                    <a:pt x="4389631" y="2426231"/>
                  </a:lnTo>
                  <a:cubicBezTo>
                    <a:pt x="4389631" y="2435722"/>
                    <a:pt x="4381936" y="2443417"/>
                    <a:pt x="4372444" y="2443417"/>
                  </a:cubicBezTo>
                  <a:lnTo>
                    <a:pt x="17187" y="2443417"/>
                  </a:lnTo>
                  <a:cubicBezTo>
                    <a:pt x="7695" y="2443417"/>
                    <a:pt x="0" y="2435722"/>
                    <a:pt x="0" y="2426231"/>
                  </a:cubicBezTo>
                  <a:lnTo>
                    <a:pt x="0" y="17187"/>
                  </a:lnTo>
                  <a:cubicBezTo>
                    <a:pt x="0" y="7695"/>
                    <a:pt x="7695" y="0"/>
                    <a:pt x="17187" y="0"/>
                  </a:cubicBezTo>
                  <a:close/>
                </a:path>
              </a:pathLst>
            </a:custGeom>
            <a:solidFill>
              <a:srgbClr val="F1FB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89631" cy="2481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137040" y="1543050"/>
            <a:ext cx="6402255" cy="7200900"/>
          </a:xfrm>
          <a:custGeom>
            <a:avLst/>
            <a:gdLst/>
            <a:ahLst/>
            <a:cxnLst/>
            <a:rect r="r" b="b" t="t" l="l"/>
            <a:pathLst>
              <a:path h="7200900" w="6402255">
                <a:moveTo>
                  <a:pt x="0" y="0"/>
                </a:moveTo>
                <a:lnTo>
                  <a:pt x="6402254" y="0"/>
                </a:lnTo>
                <a:lnTo>
                  <a:pt x="6402254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5400000">
            <a:off x="16044551" y="3918875"/>
            <a:ext cx="4878748" cy="2449250"/>
          </a:xfrm>
          <a:custGeom>
            <a:avLst/>
            <a:gdLst/>
            <a:ahLst/>
            <a:cxnLst/>
            <a:rect r="r" b="b" t="t" l="l"/>
            <a:pathLst>
              <a:path h="2449250" w="4878748">
                <a:moveTo>
                  <a:pt x="0" y="2449250"/>
                </a:moveTo>
                <a:lnTo>
                  <a:pt x="4878748" y="2449250"/>
                </a:lnTo>
                <a:lnTo>
                  <a:pt x="4878748" y="0"/>
                </a:lnTo>
                <a:lnTo>
                  <a:pt x="0" y="0"/>
                </a:lnTo>
                <a:lnTo>
                  <a:pt x="0" y="24492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6480833" y="3918875"/>
            <a:ext cx="4878748" cy="2449250"/>
          </a:xfrm>
          <a:custGeom>
            <a:avLst/>
            <a:gdLst/>
            <a:ahLst/>
            <a:cxnLst/>
            <a:rect r="r" b="b" t="t" l="l"/>
            <a:pathLst>
              <a:path h="2449250" w="4878748">
                <a:moveTo>
                  <a:pt x="0" y="0"/>
                </a:moveTo>
                <a:lnTo>
                  <a:pt x="4878748" y="0"/>
                </a:lnTo>
                <a:lnTo>
                  <a:pt x="4878748" y="2449250"/>
                </a:lnTo>
                <a:lnTo>
                  <a:pt x="0" y="2449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71512" y="4528219"/>
            <a:ext cx="1073252" cy="111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53"/>
              </a:lnSpc>
            </a:pPr>
            <a:r>
              <a:rPr lang="en-US" sz="5967" b="true">
                <a:solidFill>
                  <a:srgbClr val="F1FBFF"/>
                </a:solidFill>
                <a:latin typeface="Araboto Bold"/>
                <a:ea typeface="Araboto Bold"/>
                <a:cs typeface="Araboto Bold"/>
                <a:sym typeface="Araboto Bold"/>
              </a:rPr>
              <a:t>05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37627" y="4117975"/>
            <a:ext cx="9212745" cy="1860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true">
                <a:solidFill>
                  <a:srgbClr val="014665"/>
                </a:solidFill>
                <a:latin typeface="Araboto Bold"/>
                <a:ea typeface="Araboto Bold"/>
                <a:cs typeface="Araboto Bold"/>
                <a:sym typeface="Araboto Bold"/>
              </a:rPr>
              <a:t>FLOW CHART</a:t>
            </a:r>
          </a:p>
        </p:txBody>
      </p:sp>
    </p:spTree>
  </p:cSld>
  <p:clrMapOvr>
    <a:masterClrMapping/>
  </p:clrMapOvr>
  <p:transition spd="fast">
    <p:cover dir="d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9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wipe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9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04825"/>
            <a:ext cx="16666882" cy="9277350"/>
            <a:chOff x="0" y="0"/>
            <a:chExt cx="4389631" cy="24434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9631" cy="2443417"/>
            </a:xfrm>
            <a:custGeom>
              <a:avLst/>
              <a:gdLst/>
              <a:ahLst/>
              <a:cxnLst/>
              <a:rect r="r" b="b" t="t" l="l"/>
              <a:pathLst>
                <a:path h="2443417" w="4389631">
                  <a:moveTo>
                    <a:pt x="17187" y="0"/>
                  </a:moveTo>
                  <a:lnTo>
                    <a:pt x="4372444" y="0"/>
                  </a:lnTo>
                  <a:cubicBezTo>
                    <a:pt x="4381936" y="0"/>
                    <a:pt x="4389631" y="7695"/>
                    <a:pt x="4389631" y="17187"/>
                  </a:cubicBezTo>
                  <a:lnTo>
                    <a:pt x="4389631" y="2426231"/>
                  </a:lnTo>
                  <a:cubicBezTo>
                    <a:pt x="4389631" y="2435722"/>
                    <a:pt x="4381936" y="2443417"/>
                    <a:pt x="4372444" y="2443417"/>
                  </a:cubicBezTo>
                  <a:lnTo>
                    <a:pt x="17187" y="2443417"/>
                  </a:lnTo>
                  <a:cubicBezTo>
                    <a:pt x="7695" y="2443417"/>
                    <a:pt x="0" y="2435722"/>
                    <a:pt x="0" y="2426231"/>
                  </a:cubicBezTo>
                  <a:lnTo>
                    <a:pt x="0" y="17187"/>
                  </a:lnTo>
                  <a:cubicBezTo>
                    <a:pt x="0" y="7695"/>
                    <a:pt x="7695" y="0"/>
                    <a:pt x="17187" y="0"/>
                  </a:cubicBezTo>
                  <a:close/>
                </a:path>
              </a:pathLst>
            </a:custGeom>
            <a:solidFill>
              <a:srgbClr val="F1FB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89631" cy="2481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137040" y="1543050"/>
            <a:ext cx="6402255" cy="7200900"/>
          </a:xfrm>
          <a:custGeom>
            <a:avLst/>
            <a:gdLst/>
            <a:ahLst/>
            <a:cxnLst/>
            <a:rect r="r" b="b" t="t" l="l"/>
            <a:pathLst>
              <a:path h="7200900" w="6402255">
                <a:moveTo>
                  <a:pt x="0" y="0"/>
                </a:moveTo>
                <a:lnTo>
                  <a:pt x="6402254" y="0"/>
                </a:lnTo>
                <a:lnTo>
                  <a:pt x="6402254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1512" y="4528219"/>
            <a:ext cx="1073252" cy="111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53"/>
              </a:lnSpc>
            </a:pPr>
            <a:r>
              <a:rPr lang="en-US" sz="5967" b="true">
                <a:solidFill>
                  <a:srgbClr val="F1FBFF"/>
                </a:solidFill>
                <a:latin typeface="Araboto Bold"/>
                <a:ea typeface="Araboto Bold"/>
                <a:cs typeface="Araboto Bold"/>
                <a:sym typeface="Araboto Bold"/>
              </a:rPr>
              <a:t>08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62180" y="3950674"/>
            <a:ext cx="12363640" cy="3632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true">
                <a:solidFill>
                  <a:srgbClr val="014665"/>
                </a:solidFill>
                <a:latin typeface="Araboto Bold"/>
                <a:ea typeface="Araboto Bold"/>
                <a:cs typeface="Araboto Bold"/>
                <a:sym typeface="Araboto Bold"/>
              </a:rPr>
              <a:t>IMPLEMENTATION</a:t>
            </a:r>
          </a:p>
          <a:p>
            <a:pPr algn="ctr">
              <a:lnSpc>
                <a:spcPts val="1399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true" rot="-5400000">
            <a:off x="16044551" y="3918875"/>
            <a:ext cx="4878748" cy="2449250"/>
          </a:xfrm>
          <a:custGeom>
            <a:avLst/>
            <a:gdLst/>
            <a:ahLst/>
            <a:cxnLst/>
            <a:rect r="r" b="b" t="t" l="l"/>
            <a:pathLst>
              <a:path h="2449250" w="4878748">
                <a:moveTo>
                  <a:pt x="0" y="2449250"/>
                </a:moveTo>
                <a:lnTo>
                  <a:pt x="4878748" y="2449250"/>
                </a:lnTo>
                <a:lnTo>
                  <a:pt x="4878748" y="0"/>
                </a:lnTo>
                <a:lnTo>
                  <a:pt x="0" y="0"/>
                </a:lnTo>
                <a:lnTo>
                  <a:pt x="0" y="24492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16480833" y="3918875"/>
            <a:ext cx="4878748" cy="2449250"/>
          </a:xfrm>
          <a:custGeom>
            <a:avLst/>
            <a:gdLst/>
            <a:ahLst/>
            <a:cxnLst/>
            <a:rect r="r" b="b" t="t" l="l"/>
            <a:pathLst>
              <a:path h="2449250" w="4878748">
                <a:moveTo>
                  <a:pt x="0" y="0"/>
                </a:moveTo>
                <a:lnTo>
                  <a:pt x="4878748" y="0"/>
                </a:lnTo>
                <a:lnTo>
                  <a:pt x="4878748" y="2449250"/>
                </a:lnTo>
                <a:lnTo>
                  <a:pt x="0" y="2449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9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538230" cy="10427754"/>
          </a:xfrm>
          <a:custGeom>
            <a:avLst/>
            <a:gdLst/>
            <a:ahLst/>
            <a:cxnLst/>
            <a:rect r="r" b="b" t="t" l="l"/>
            <a:pathLst>
              <a:path h="10427754" w="18538230">
                <a:moveTo>
                  <a:pt x="0" y="0"/>
                </a:moveTo>
                <a:lnTo>
                  <a:pt x="18538230" y="0"/>
                </a:lnTo>
                <a:lnTo>
                  <a:pt x="18538230" y="10427754"/>
                </a:lnTo>
                <a:lnTo>
                  <a:pt x="0" y="10427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9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9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9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97768"/>
            <a:ext cx="18288000" cy="8691464"/>
          </a:xfrm>
          <a:custGeom>
            <a:avLst/>
            <a:gdLst/>
            <a:ahLst/>
            <a:cxnLst/>
            <a:rect r="r" b="b" t="t" l="l"/>
            <a:pathLst>
              <a:path h="8691464" w="18288000">
                <a:moveTo>
                  <a:pt x="0" y="0"/>
                </a:moveTo>
                <a:lnTo>
                  <a:pt x="18288000" y="0"/>
                </a:lnTo>
                <a:lnTo>
                  <a:pt x="18288000" y="8691464"/>
                </a:lnTo>
                <a:lnTo>
                  <a:pt x="0" y="86914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6784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9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9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2418" y="504825"/>
            <a:ext cx="17103164" cy="9277350"/>
            <a:chOff x="0" y="0"/>
            <a:chExt cx="4504537" cy="24434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04537" cy="2443417"/>
            </a:xfrm>
            <a:custGeom>
              <a:avLst/>
              <a:gdLst/>
              <a:ahLst/>
              <a:cxnLst/>
              <a:rect r="r" b="b" t="t" l="l"/>
              <a:pathLst>
                <a:path h="2443417" w="4504537">
                  <a:moveTo>
                    <a:pt x="16748" y="0"/>
                  </a:moveTo>
                  <a:lnTo>
                    <a:pt x="4487788" y="0"/>
                  </a:lnTo>
                  <a:cubicBezTo>
                    <a:pt x="4497039" y="0"/>
                    <a:pt x="4504537" y="7499"/>
                    <a:pt x="4504537" y="16748"/>
                  </a:cubicBezTo>
                  <a:lnTo>
                    <a:pt x="4504537" y="2426669"/>
                  </a:lnTo>
                  <a:cubicBezTo>
                    <a:pt x="4504537" y="2431111"/>
                    <a:pt x="4502772" y="2435371"/>
                    <a:pt x="4499632" y="2438512"/>
                  </a:cubicBezTo>
                  <a:cubicBezTo>
                    <a:pt x="4496491" y="2441653"/>
                    <a:pt x="4492230" y="2443417"/>
                    <a:pt x="4487788" y="2443417"/>
                  </a:cubicBezTo>
                  <a:lnTo>
                    <a:pt x="16748" y="2443417"/>
                  </a:lnTo>
                  <a:cubicBezTo>
                    <a:pt x="7499" y="2443417"/>
                    <a:pt x="0" y="2435919"/>
                    <a:pt x="0" y="2426669"/>
                  </a:cubicBezTo>
                  <a:lnTo>
                    <a:pt x="0" y="16748"/>
                  </a:lnTo>
                  <a:cubicBezTo>
                    <a:pt x="0" y="12306"/>
                    <a:pt x="1765" y="8046"/>
                    <a:pt x="4906" y="4906"/>
                  </a:cubicBezTo>
                  <a:cubicBezTo>
                    <a:pt x="8046" y="1765"/>
                    <a:pt x="12306" y="0"/>
                    <a:pt x="16748" y="0"/>
                  </a:cubicBezTo>
                  <a:close/>
                </a:path>
              </a:pathLst>
            </a:custGeom>
            <a:solidFill>
              <a:srgbClr val="F1FB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04537" cy="2481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5373555" y="1543050"/>
            <a:ext cx="6402255" cy="7200900"/>
          </a:xfrm>
          <a:custGeom>
            <a:avLst/>
            <a:gdLst/>
            <a:ahLst/>
            <a:cxnLst/>
            <a:rect r="r" b="b" t="t" l="l"/>
            <a:pathLst>
              <a:path h="7200900" w="6402255">
                <a:moveTo>
                  <a:pt x="0" y="0"/>
                </a:moveTo>
                <a:lnTo>
                  <a:pt x="6402255" y="0"/>
                </a:lnTo>
                <a:lnTo>
                  <a:pt x="6402255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1543050"/>
            <a:ext cx="6402255" cy="7200900"/>
          </a:xfrm>
          <a:custGeom>
            <a:avLst/>
            <a:gdLst/>
            <a:ahLst/>
            <a:cxnLst/>
            <a:rect r="r" b="b" t="t" l="l"/>
            <a:pathLst>
              <a:path h="7200900" w="6402255">
                <a:moveTo>
                  <a:pt x="0" y="0"/>
                </a:moveTo>
                <a:lnTo>
                  <a:pt x="6402255" y="0"/>
                </a:lnTo>
                <a:lnTo>
                  <a:pt x="6402255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6704626" y="9258300"/>
            <a:ext cx="4878748" cy="2449250"/>
          </a:xfrm>
          <a:custGeom>
            <a:avLst/>
            <a:gdLst/>
            <a:ahLst/>
            <a:cxnLst/>
            <a:rect r="r" b="b" t="t" l="l"/>
            <a:pathLst>
              <a:path h="2449250" w="4878748">
                <a:moveTo>
                  <a:pt x="0" y="2449250"/>
                </a:moveTo>
                <a:lnTo>
                  <a:pt x="4878748" y="2449250"/>
                </a:lnTo>
                <a:lnTo>
                  <a:pt x="4878748" y="0"/>
                </a:lnTo>
                <a:lnTo>
                  <a:pt x="0" y="0"/>
                </a:lnTo>
                <a:lnTo>
                  <a:pt x="0" y="24492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04626" y="-1420550"/>
            <a:ext cx="4878748" cy="2449250"/>
          </a:xfrm>
          <a:custGeom>
            <a:avLst/>
            <a:gdLst/>
            <a:ahLst/>
            <a:cxnLst/>
            <a:rect r="r" b="b" t="t" l="l"/>
            <a:pathLst>
              <a:path h="2449250" w="4878748">
                <a:moveTo>
                  <a:pt x="0" y="0"/>
                </a:moveTo>
                <a:lnTo>
                  <a:pt x="4878748" y="0"/>
                </a:lnTo>
                <a:lnTo>
                  <a:pt x="4878748" y="2449250"/>
                </a:lnTo>
                <a:lnTo>
                  <a:pt x="0" y="2449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950481" y="3651073"/>
            <a:ext cx="12387037" cy="2741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60"/>
              </a:lnSpc>
            </a:pPr>
            <a:r>
              <a:rPr lang="en-US" sz="14685" b="true">
                <a:solidFill>
                  <a:srgbClr val="014665"/>
                </a:solidFill>
                <a:latin typeface="Araboto Bold"/>
                <a:ea typeface="Araboto Bold"/>
                <a:cs typeface="Araboto Bold"/>
                <a:sym typeface="Araboto Bold"/>
              </a:rPr>
              <a:t>Thank You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704626" y="9782175"/>
            <a:ext cx="4878748" cy="2449250"/>
          </a:xfrm>
          <a:custGeom>
            <a:avLst/>
            <a:gdLst/>
            <a:ahLst/>
            <a:cxnLst/>
            <a:rect r="r" b="b" t="t" l="l"/>
            <a:pathLst>
              <a:path h="2449250" w="4878748">
                <a:moveTo>
                  <a:pt x="0" y="0"/>
                </a:moveTo>
                <a:lnTo>
                  <a:pt x="4878748" y="0"/>
                </a:lnTo>
                <a:lnTo>
                  <a:pt x="4878748" y="2449250"/>
                </a:lnTo>
                <a:lnTo>
                  <a:pt x="0" y="2449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6704626" y="-1944425"/>
            <a:ext cx="4878748" cy="2449250"/>
          </a:xfrm>
          <a:custGeom>
            <a:avLst/>
            <a:gdLst/>
            <a:ahLst/>
            <a:cxnLst/>
            <a:rect r="r" b="b" t="t" l="l"/>
            <a:pathLst>
              <a:path h="2449250" w="4878748">
                <a:moveTo>
                  <a:pt x="0" y="2449250"/>
                </a:moveTo>
                <a:lnTo>
                  <a:pt x="4878748" y="2449250"/>
                </a:lnTo>
                <a:lnTo>
                  <a:pt x="4878748" y="0"/>
                </a:lnTo>
                <a:lnTo>
                  <a:pt x="0" y="0"/>
                </a:lnTo>
                <a:lnTo>
                  <a:pt x="0" y="244925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DAGzQFaTDl0</dc:identifier>
  <dcterms:modified xsi:type="dcterms:W3CDTF">2011-08-01T06:04:30Z</dcterms:modified>
  <cp:revision>1</cp:revision>
  <dc:title>EventEase</dc:title>
</cp:coreProperties>
</file>